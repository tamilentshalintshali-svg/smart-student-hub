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75"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2" autoAdjust="0"/>
    <p:restoredTop sz="94660"/>
  </p:normalViewPr>
  <p:slideViewPr>
    <p:cSldViewPr snapToGrid="0">
      <p:cViewPr varScale="1">
        <p:scale>
          <a:sx n="92" d="100"/>
          <a:sy n="92" d="100"/>
        </p:scale>
        <p:origin x="106"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5"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76"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77"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8"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9"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80"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78060924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8"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1048589"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1048590" name="Date Placeholder 3"/>
          <p:cNvSpPr>
            <a:spLocks noGrp="1"/>
          </p:cNvSpPr>
          <p:nvPr>
            <p:ph type="dt" sz="half" idx="10"/>
          </p:nvPr>
        </p:nvSpPr>
        <p:spPr/>
        <p:txBody>
          <a:bodyPr/>
          <a:lstStyle/>
          <a:p>
            <a:fld id="{1DDD91BB-E9F8-45AD-98D3-D499B944821D}" type="datetimeFigureOut">
              <a:rPr lang="en-ZA" smtClean="0"/>
              <a:t>2026/06/06</a:t>
            </a:fld>
            <a:endParaRPr lang="en-ZA"/>
          </a:p>
        </p:txBody>
      </p:sp>
      <p:sp>
        <p:nvSpPr>
          <p:cNvPr id="1048591" name="Footer Placeholder 4"/>
          <p:cNvSpPr>
            <a:spLocks noGrp="1"/>
          </p:cNvSpPr>
          <p:nvPr>
            <p:ph type="ftr" sz="quarter" idx="11"/>
          </p:nvPr>
        </p:nvSpPr>
        <p:spPr/>
        <p:txBody>
          <a:bodyPr/>
          <a:lstStyle/>
          <a:p>
            <a:endParaRPr lang="en-ZA"/>
          </a:p>
        </p:txBody>
      </p:sp>
      <p:sp>
        <p:nvSpPr>
          <p:cNvPr id="1048592" name="Slide Number Placeholder 5"/>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ZA"/>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583" name="Date Placeholder 3"/>
          <p:cNvSpPr>
            <a:spLocks noGrp="1"/>
          </p:cNvSpPr>
          <p:nvPr>
            <p:ph type="dt" sz="half" idx="10"/>
          </p:nvPr>
        </p:nvSpPr>
        <p:spPr/>
        <p:txBody>
          <a:bodyPr/>
          <a:lstStyle/>
          <a:p>
            <a:fld id="{1DDD91BB-E9F8-45AD-98D3-D499B944821D}" type="datetimeFigureOut">
              <a:rPr lang="en-ZA" smtClean="0"/>
              <a:t>2026/06/06</a:t>
            </a:fld>
            <a:endParaRPr lang="en-ZA"/>
          </a:p>
        </p:txBody>
      </p:sp>
      <p:sp>
        <p:nvSpPr>
          <p:cNvPr id="1048584" name="Footer Placeholder 4"/>
          <p:cNvSpPr>
            <a:spLocks noGrp="1"/>
          </p:cNvSpPr>
          <p:nvPr>
            <p:ph type="ftr" sz="quarter" idx="11"/>
          </p:nvPr>
        </p:nvSpPr>
        <p:spPr/>
        <p:txBody>
          <a:bodyPr/>
          <a:lstStyle/>
          <a:p>
            <a:endParaRPr lang="en-ZA"/>
          </a:p>
        </p:txBody>
      </p:sp>
      <p:sp>
        <p:nvSpPr>
          <p:cNvPr id="1048585" name="Slide Number Placeholder 5"/>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61"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1048662"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63" name="Date Placeholder 3"/>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64" name="Footer Placeholder 4"/>
          <p:cNvSpPr>
            <a:spLocks noGrp="1"/>
          </p:cNvSpPr>
          <p:nvPr>
            <p:ph type="ftr" sz="quarter" idx="11"/>
          </p:nvPr>
        </p:nvSpPr>
        <p:spPr/>
        <p:txBody>
          <a:bodyPr/>
          <a:lstStyle/>
          <a:p>
            <a:endParaRPr lang="en-ZA"/>
          </a:p>
        </p:txBody>
      </p:sp>
      <p:sp>
        <p:nvSpPr>
          <p:cNvPr id="1048665" name="Slide Number Placeholder 5"/>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rPr lang="en-US"/>
              <a:t>Click to edit Master title style</a:t>
            </a:r>
            <a:endParaRPr lang="en-ZA"/>
          </a:p>
        </p:txBody>
      </p:sp>
      <p:sp>
        <p:nvSpPr>
          <p:cNvPr id="1048596"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597"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598" name="Date Placeholder 4"/>
          <p:cNvSpPr>
            <a:spLocks noGrp="1"/>
          </p:cNvSpPr>
          <p:nvPr>
            <p:ph type="dt" sz="half" idx="10"/>
          </p:nvPr>
        </p:nvSpPr>
        <p:spPr/>
        <p:txBody>
          <a:bodyPr/>
          <a:lstStyle/>
          <a:p>
            <a:fld id="{1DDD91BB-E9F8-45AD-98D3-D499B944821D}" type="datetimeFigureOut">
              <a:rPr lang="en-ZA" smtClean="0"/>
              <a:t>2026/06/06</a:t>
            </a:fld>
            <a:endParaRPr lang="en-ZA"/>
          </a:p>
        </p:txBody>
      </p:sp>
      <p:sp>
        <p:nvSpPr>
          <p:cNvPr id="1048599" name="Footer Placeholder 5"/>
          <p:cNvSpPr>
            <a:spLocks noGrp="1"/>
          </p:cNvSpPr>
          <p:nvPr>
            <p:ph type="ftr" sz="quarter" idx="11"/>
          </p:nvPr>
        </p:nvSpPr>
        <p:spPr/>
        <p:txBody>
          <a:bodyPr/>
          <a:lstStyle/>
          <a:p>
            <a:endParaRPr lang="en-ZA"/>
          </a:p>
        </p:txBody>
      </p:sp>
      <p:sp>
        <p:nvSpPr>
          <p:cNvPr id="1048600" name="Slide Number Placeholder 6"/>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05" name="Title 1"/>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104860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0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60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0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610" name="Date Placeholder 6"/>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11" name="Footer Placeholder 7"/>
          <p:cNvSpPr>
            <a:spLocks noGrp="1"/>
          </p:cNvSpPr>
          <p:nvPr>
            <p:ph type="ftr" sz="quarter" idx="11"/>
          </p:nvPr>
        </p:nvSpPr>
        <p:spPr/>
        <p:txBody>
          <a:bodyPr/>
          <a:lstStyle/>
          <a:p>
            <a:endParaRPr lang="en-ZA"/>
          </a:p>
        </p:txBody>
      </p:sp>
      <p:sp>
        <p:nvSpPr>
          <p:cNvPr id="1048612" name="Slide Number Placeholder 8"/>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41" name="Title 1"/>
          <p:cNvSpPr>
            <a:spLocks noGrp="1"/>
          </p:cNvSpPr>
          <p:nvPr>
            <p:ph type="title"/>
          </p:nvPr>
        </p:nvSpPr>
        <p:spPr/>
        <p:txBody>
          <a:bodyPr/>
          <a:lstStyle/>
          <a:p>
            <a:r>
              <a:rPr lang="en-US"/>
              <a:t>Click to edit Master title style</a:t>
            </a:r>
            <a:endParaRPr lang="en-ZA"/>
          </a:p>
        </p:txBody>
      </p:sp>
      <p:sp>
        <p:nvSpPr>
          <p:cNvPr id="1048642" name="Date Placeholder 2"/>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43" name="Footer Placeholder 3"/>
          <p:cNvSpPr>
            <a:spLocks noGrp="1"/>
          </p:cNvSpPr>
          <p:nvPr>
            <p:ph type="ftr" sz="quarter" idx="11"/>
          </p:nvPr>
        </p:nvSpPr>
        <p:spPr/>
        <p:txBody>
          <a:bodyPr/>
          <a:lstStyle/>
          <a:p>
            <a:endParaRPr lang="en-ZA"/>
          </a:p>
        </p:txBody>
      </p:sp>
      <p:sp>
        <p:nvSpPr>
          <p:cNvPr id="1048644" name="Slide Number Placeholder 4"/>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66" name="Date Placeholder 1"/>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67" name="Footer Placeholder 2"/>
          <p:cNvSpPr>
            <a:spLocks noGrp="1"/>
          </p:cNvSpPr>
          <p:nvPr>
            <p:ph type="ftr" sz="quarter" idx="11"/>
          </p:nvPr>
        </p:nvSpPr>
        <p:spPr/>
        <p:txBody>
          <a:bodyPr/>
          <a:lstStyle/>
          <a:p>
            <a:endParaRPr lang="en-ZA"/>
          </a:p>
        </p:txBody>
      </p:sp>
      <p:sp>
        <p:nvSpPr>
          <p:cNvPr id="1048668" name="Slide Number Placeholder 3"/>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9"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1048670"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67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72" name="Date Placeholder 4"/>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73" name="Footer Placeholder 5"/>
          <p:cNvSpPr>
            <a:spLocks noGrp="1"/>
          </p:cNvSpPr>
          <p:nvPr>
            <p:ph type="ftr" sz="quarter" idx="11"/>
          </p:nvPr>
        </p:nvSpPr>
        <p:spPr/>
        <p:txBody>
          <a:bodyPr/>
          <a:lstStyle/>
          <a:p>
            <a:endParaRPr lang="en-ZA"/>
          </a:p>
        </p:txBody>
      </p:sp>
      <p:sp>
        <p:nvSpPr>
          <p:cNvPr id="1048674" name="Slide Number Placeholder 6"/>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5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1048651"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104865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53" name="Date Placeholder 4"/>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54" name="Footer Placeholder 5"/>
          <p:cNvSpPr>
            <a:spLocks noGrp="1"/>
          </p:cNvSpPr>
          <p:nvPr>
            <p:ph type="ftr" sz="quarter" idx="11"/>
          </p:nvPr>
        </p:nvSpPr>
        <p:spPr/>
        <p:txBody>
          <a:bodyPr/>
          <a:lstStyle/>
          <a:p>
            <a:endParaRPr lang="en-ZA"/>
          </a:p>
        </p:txBody>
      </p:sp>
      <p:sp>
        <p:nvSpPr>
          <p:cNvPr id="1048655" name="Slide Number Placeholder 6"/>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ZA"/>
          </a:p>
        </p:txBody>
      </p:sp>
      <p:sp>
        <p:nvSpPr>
          <p:cNvPr id="1048657"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658" name="Date Placeholder 3"/>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59" name="Footer Placeholder 4"/>
          <p:cNvSpPr>
            <a:spLocks noGrp="1"/>
          </p:cNvSpPr>
          <p:nvPr>
            <p:ph type="ftr" sz="quarter" idx="11"/>
          </p:nvPr>
        </p:nvSpPr>
        <p:spPr/>
        <p:txBody>
          <a:bodyPr/>
          <a:lstStyle/>
          <a:p>
            <a:endParaRPr lang="en-ZA"/>
          </a:p>
        </p:txBody>
      </p:sp>
      <p:sp>
        <p:nvSpPr>
          <p:cNvPr id="1048660" name="Slide Number Placeholder 5"/>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45"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1048646"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647" name="Date Placeholder 3"/>
          <p:cNvSpPr>
            <a:spLocks noGrp="1"/>
          </p:cNvSpPr>
          <p:nvPr>
            <p:ph type="dt" sz="half" idx="10"/>
          </p:nvPr>
        </p:nvSpPr>
        <p:spPr/>
        <p:txBody>
          <a:bodyPr/>
          <a:lstStyle/>
          <a:p>
            <a:fld id="{1DDD91BB-E9F8-45AD-98D3-D499B944821D}" type="datetimeFigureOut">
              <a:rPr lang="en-ZA" smtClean="0"/>
              <a:t>2026/06/06</a:t>
            </a:fld>
            <a:endParaRPr lang="en-ZA"/>
          </a:p>
        </p:txBody>
      </p:sp>
      <p:sp>
        <p:nvSpPr>
          <p:cNvPr id="1048648" name="Footer Placeholder 4"/>
          <p:cNvSpPr>
            <a:spLocks noGrp="1"/>
          </p:cNvSpPr>
          <p:nvPr>
            <p:ph type="ftr" sz="quarter" idx="11"/>
          </p:nvPr>
        </p:nvSpPr>
        <p:spPr/>
        <p:txBody>
          <a:bodyPr/>
          <a:lstStyle/>
          <a:p>
            <a:endParaRPr lang="en-ZA"/>
          </a:p>
        </p:txBody>
      </p:sp>
      <p:sp>
        <p:nvSpPr>
          <p:cNvPr id="1048649" name="Slide Number Placeholder 5"/>
          <p:cNvSpPr>
            <a:spLocks noGrp="1"/>
          </p:cNvSpPr>
          <p:nvPr>
            <p:ph type="sldNum" sz="quarter" idx="12"/>
          </p:nvPr>
        </p:nvSpPr>
        <p:spPr/>
        <p:txBody>
          <a:bodyPr/>
          <a:lstStyle/>
          <a:p>
            <a:fld id="{04BD2C15-97E5-4C8E-BBBB-A9FF46692893}" type="slidenum">
              <a:rPr lang="en-ZA" smtClean="0"/>
              <a:t>‹#›</a:t>
            </a:fld>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DD91BB-E9F8-45AD-98D3-D499B944821D}" type="datetimeFigureOut">
              <a:rPr lang="en-ZA" smtClean="0"/>
              <a:t>2026/06/06</a:t>
            </a:fld>
            <a:endParaRPr lang="en-ZA"/>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BD2C15-97E5-4C8E-BBBB-A9FF46692893}" type="slidenum">
              <a:rPr lang="en-ZA" smtClean="0"/>
              <a:t>‹#›</a:t>
            </a:fld>
            <a:endParaRPr lang="en-ZA"/>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p:txBody>
          <a:bodyPr>
            <a:normAutofit/>
          </a:bodyPr>
          <a:lstStyle/>
          <a:p>
            <a:r>
              <a:rPr lang="en-GB" dirty="0"/>
              <a:t>SMART STUDENT HUB</a:t>
            </a:r>
            <a:endParaRPr lang="en-ZA" dirty="0"/>
          </a:p>
        </p:txBody>
      </p:sp>
      <p:sp>
        <p:nvSpPr>
          <p:cNvPr id="1048614" name="Subtitle 2"/>
          <p:cNvSpPr>
            <a:spLocks noGrp="1"/>
          </p:cNvSpPr>
          <p:nvPr>
            <p:ph type="body" idx="1"/>
          </p:nvPr>
        </p:nvSpPr>
        <p:spPr/>
        <p:txBody>
          <a:bodyPr/>
          <a:lstStyle/>
          <a:p>
            <a:r>
              <a:rPr lang="en-GB" dirty="0"/>
              <a:t>Task Tracking and Deadline Reminder System for UNESWA Students</a:t>
            </a:r>
            <a:endParaRPr lang="en-ZA" dirty="0"/>
          </a:p>
        </p:txBody>
      </p:sp>
      <p:sp>
        <p:nvSpPr>
          <p:cNvPr id="1048615" name="Text Placeholder 4"/>
          <p:cNvSpPr>
            <a:spLocks noGrp="1"/>
          </p:cNvSpPr>
          <p:nvPr>
            <p:ph type="body" sz="quarter" idx="3"/>
          </p:nvPr>
        </p:nvSpPr>
        <p:spPr/>
        <p:txBody>
          <a:bodyPr/>
          <a:lstStyle/>
          <a:p>
            <a:endParaRPr lang="en-US"/>
          </a:p>
        </p:txBody>
      </p:sp>
      <p:sp>
        <p:nvSpPr>
          <p:cNvPr id="1048616" name="Content Placeholder 5"/>
          <p:cNvSpPr>
            <a:spLocks noGrp="1"/>
          </p:cNvSpPr>
          <p:nvPr>
            <p:ph sz="quarter" idx="4"/>
          </p:nvPr>
        </p:nvSpPr>
        <p:spPr/>
        <p:txBody>
          <a:bodyPr/>
          <a:lstStyle/>
          <a:p>
            <a:endParaRPr lang="en-US" dirty="0"/>
          </a:p>
        </p:txBody>
      </p:sp>
      <p:pic>
        <p:nvPicPr>
          <p:cNvPr id="2097154" name="Content Placeholder 6"/>
          <p:cNvPicPr>
            <a:picLocks noGrp="1"/>
          </p:cNvPicPr>
          <p:nvPr>
            <p:ph sz="half" idx="2"/>
          </p:nvPr>
        </p:nvPicPr>
        <p:blipFill>
          <a:blip r:embed="rId2"/>
          <a:stretch>
            <a:fillRect/>
          </a:stretch>
        </p:blipFill>
        <p:spPr>
          <a:xfrm>
            <a:off x="1358124" y="2505075"/>
            <a:ext cx="4121115" cy="36845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ctrTitle"/>
          </p:nvPr>
        </p:nvSpPr>
        <p:spPr>
          <a:xfrm>
            <a:off x="488272" y="355601"/>
            <a:ext cx="10179728" cy="914399"/>
          </a:xfrm>
        </p:spPr>
        <p:txBody>
          <a:bodyPr>
            <a:normAutofit/>
          </a:bodyPr>
          <a:lstStyle/>
          <a:p>
            <a:pPr algn="l"/>
            <a:r>
              <a:rPr lang="en-GB" u="sng" dirty="0"/>
              <a:t>Problem statement</a:t>
            </a:r>
            <a:endParaRPr lang="en-ZA" u="sng" dirty="0"/>
          </a:p>
        </p:txBody>
      </p:sp>
      <p:sp>
        <p:nvSpPr>
          <p:cNvPr id="1048618" name="Subtitle 2"/>
          <p:cNvSpPr>
            <a:spLocks noGrp="1"/>
          </p:cNvSpPr>
          <p:nvPr>
            <p:ph type="subTitle" idx="1"/>
          </p:nvPr>
        </p:nvSpPr>
        <p:spPr>
          <a:xfrm>
            <a:off x="355107" y="2011680"/>
            <a:ext cx="10312893" cy="4246880"/>
          </a:xfrm>
        </p:spPr>
        <p:txBody>
          <a:bodyPr>
            <a:normAutofit/>
          </a:bodyPr>
          <a:lstStyle/>
          <a:p>
            <a:pPr algn="l"/>
            <a:endParaRPr lang="en-GB" sz="1800" dirty="0">
              <a:latin typeface="Times New Roman" panose="02020603050405020304" pitchFamily="18" charset="0"/>
              <a:cs typeface="Times New Roman" panose="02020603050405020304" pitchFamily="18" charset="0"/>
            </a:endParaRPr>
          </a:p>
          <a:p>
            <a:pPr algn="l"/>
            <a:r>
              <a:rPr lang="en-GB" sz="1800" dirty="0">
                <a:latin typeface="Times New Roman" panose="02020603050405020304" pitchFamily="18" charset="0"/>
                <a:cs typeface="Times New Roman" panose="02020603050405020304" pitchFamily="18" charset="0"/>
              </a:rPr>
              <a:t>University students at UNESWA face significant challenges in managing their academic commitments due to a lack of a centralized platform to track varying milestones across different courses. Students must simultaneously manage assignments, tests, lab reports, and presentations spread across disconnected modules.</a:t>
            </a:r>
          </a:p>
          <a:p>
            <a:pPr algn="l"/>
            <a:endParaRPr lang="en-GB" sz="1800" dirty="0">
              <a:latin typeface="Times New Roman" panose="02020603050405020304" pitchFamily="18" charset="0"/>
              <a:cs typeface="Times New Roman" panose="02020603050405020304" pitchFamily="18" charset="0"/>
            </a:endParaRPr>
          </a:p>
          <a:p>
            <a:pPr algn="l"/>
            <a:r>
              <a:rPr lang="en-GB" sz="1800" dirty="0">
                <a:latin typeface="Times New Roman" panose="02020603050405020304" pitchFamily="18" charset="0"/>
                <a:cs typeface="Times New Roman" panose="02020603050405020304" pitchFamily="18" charset="0"/>
              </a:rPr>
              <a:t>Without an integrated view, students frequently suffer from poor planning, leading to academic stress, uncoordinated preparation windows, and missed deadlines. The absence of an automated, proactive monitoring system shifts the burden of deadline tracking entirely onto the student, compounding academic anxiety and decreasing overall institutional productivity.</a:t>
            </a:r>
            <a:r>
              <a:rPr lang="en-US" sz="1800" dirty="0">
                <a:latin typeface="Times New Roman" panose="02020603050405020304" pitchFamily="18" charset="0"/>
                <a:cs typeface="Times New Roman" panose="02020603050405020304" pitchFamily="18" charset="0"/>
              </a:rPr>
              <a:t> Therefore, there’s a need for a simple, centralized system that allows students to track assignments, tests dates and deadlines in one place while providing timely reminders</a:t>
            </a:r>
            <a:endParaRPr lang="en-GB" sz="1800" dirty="0">
              <a:latin typeface="Times New Roman" panose="02020603050405020304" pitchFamily="18" charset="0"/>
              <a:cs typeface="Times New Roman" panose="02020603050405020304" pitchFamily="18" charset="0"/>
            </a:endParaRPr>
          </a:p>
          <a:p>
            <a:pPr algn="l"/>
            <a:endParaRPr lang="en-ZA"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ctrTitle"/>
          </p:nvPr>
        </p:nvSpPr>
        <p:spPr>
          <a:xfrm>
            <a:off x="71021" y="80868"/>
            <a:ext cx="10596979" cy="1413164"/>
          </a:xfrm>
        </p:spPr>
        <p:txBody>
          <a:bodyPr>
            <a:normAutofit/>
          </a:bodyPr>
          <a:lstStyle/>
          <a:p>
            <a:pPr algn="l"/>
            <a:r>
              <a:rPr lang="en-GB" u="sng" dirty="0"/>
              <a:t>Objectives</a:t>
            </a:r>
            <a:endParaRPr lang="en-ZA" u="sng" dirty="0"/>
          </a:p>
        </p:txBody>
      </p:sp>
      <p:sp>
        <p:nvSpPr>
          <p:cNvPr id="1048620" name="Subtitle 2"/>
          <p:cNvSpPr>
            <a:spLocks noGrp="1"/>
          </p:cNvSpPr>
          <p:nvPr>
            <p:ph type="subTitle" idx="1"/>
          </p:nvPr>
        </p:nvSpPr>
        <p:spPr>
          <a:xfrm>
            <a:off x="0" y="1698422"/>
            <a:ext cx="9362902" cy="2649133"/>
          </a:xfrm>
        </p:spPr>
        <p:txBody>
          <a:bodyPr>
            <a:normAutofit/>
          </a:bodyPr>
          <a:lstStyle/>
          <a:p>
            <a:pPr marL="342900" indent="-342900" algn="l">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Centralize academic tasks</a:t>
            </a:r>
          </a:p>
          <a:p>
            <a:pPr marL="342900" indent="-342900" algn="l">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Improve time management.</a:t>
            </a:r>
          </a:p>
          <a:p>
            <a:pPr marL="342900" indent="-342900" algn="l">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Provide automated reminders.</a:t>
            </a:r>
          </a:p>
          <a:p>
            <a:pPr marL="342900" indent="-342900" algn="l">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Reduce missed submissions.</a:t>
            </a:r>
          </a:p>
          <a:p>
            <a:pPr marL="342900" indent="-342900" algn="l">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Enhance student productivity.</a:t>
            </a:r>
          </a:p>
          <a:p>
            <a:pPr marL="342900" indent="-342900" algn="l">
              <a:buFont typeface="Wingdings" panose="05000000000000000000" pitchFamily="2" charset="2"/>
              <a:buChar char="Ø"/>
            </a:pPr>
            <a:endParaRPr lang="en-ZA"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ctrTitle"/>
          </p:nvPr>
        </p:nvSpPr>
        <p:spPr>
          <a:xfrm>
            <a:off x="115410" y="518161"/>
            <a:ext cx="10552590" cy="985519"/>
          </a:xfrm>
        </p:spPr>
        <p:txBody>
          <a:bodyPr>
            <a:normAutofit/>
          </a:bodyPr>
          <a:lstStyle/>
          <a:p>
            <a:pPr algn="l"/>
            <a:r>
              <a:rPr lang="en-GB" u="sng" dirty="0"/>
              <a:t>Proposed solution</a:t>
            </a:r>
            <a:endParaRPr lang="en-ZA" u="sng" dirty="0"/>
          </a:p>
        </p:txBody>
      </p:sp>
      <p:sp>
        <p:nvSpPr>
          <p:cNvPr id="1048622" name="Subtitle 2"/>
          <p:cNvSpPr>
            <a:spLocks noGrp="1"/>
          </p:cNvSpPr>
          <p:nvPr>
            <p:ph type="subTitle" idx="1"/>
          </p:nvPr>
        </p:nvSpPr>
        <p:spPr>
          <a:xfrm>
            <a:off x="0" y="1986742"/>
            <a:ext cx="10668000" cy="3271058"/>
          </a:xfrm>
        </p:spPr>
        <p:txBody>
          <a:bodyPr>
            <a:normAutofit/>
          </a:bodyPr>
          <a:lstStyle/>
          <a:p>
            <a:pPr algn="l"/>
            <a:r>
              <a:rPr lang="en-GB" dirty="0">
                <a:latin typeface="Times New Roman" panose="02020603050405020304" pitchFamily="18" charset="0"/>
                <a:cs typeface="Times New Roman" panose="02020603050405020304" pitchFamily="18" charset="0"/>
              </a:rPr>
              <a:t>To centralize and streamline academic schedules for UNESWA students can:</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Register and log-in securely  </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Create and manage tasks </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Receive deadline reminders</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Monitor progress through dashboards </a:t>
            </a:r>
            <a:endParaRPr lang="en-ZA" dirty="0">
              <a:latin typeface="Times New Roman" panose="02020603050405020304" pitchFamily="18" charset="0"/>
              <a:cs typeface="Times New Roman" panose="02020603050405020304" pitchFamily="18" charset="0"/>
            </a:endParaRPr>
          </a:p>
          <a:p>
            <a:r>
              <a:rPr lang="en-GB" dirty="0"/>
              <a:t>.</a:t>
            </a:r>
            <a:endParaRPr lang="en-ZA"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ctrTitle"/>
          </p:nvPr>
        </p:nvSpPr>
        <p:spPr>
          <a:xfrm>
            <a:off x="97654" y="914401"/>
            <a:ext cx="10570346" cy="731520"/>
          </a:xfrm>
        </p:spPr>
        <p:txBody>
          <a:bodyPr>
            <a:normAutofit/>
          </a:bodyPr>
          <a:lstStyle/>
          <a:p>
            <a:pPr algn="l"/>
            <a:r>
              <a:rPr lang="en-GB" u="sng" dirty="0"/>
              <a:t>How it solved the problem</a:t>
            </a:r>
            <a:endParaRPr lang="en-ZA" u="sng" dirty="0"/>
          </a:p>
        </p:txBody>
      </p:sp>
      <p:sp>
        <p:nvSpPr>
          <p:cNvPr id="1048624" name="Subtitle 2"/>
          <p:cNvSpPr>
            <a:spLocks noGrp="1"/>
          </p:cNvSpPr>
          <p:nvPr>
            <p:ph type="subTitle" idx="1"/>
          </p:nvPr>
        </p:nvSpPr>
        <p:spPr>
          <a:xfrm>
            <a:off x="0" y="1645920"/>
            <a:ext cx="10374284" cy="5212079"/>
          </a:xfrm>
        </p:spPr>
        <p:txBody>
          <a:bodyPr>
            <a:normAutofit/>
          </a:bodyPr>
          <a:lstStyle/>
          <a:p>
            <a:pPr algn="l"/>
            <a:endParaRPr lang="en-GB" dirty="0"/>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It eliminates tracking across fragmented channels</a:t>
            </a: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system automatically runs dynamic background checks against target task deadlines.</a:t>
            </a: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 It visually isolates urgent priorities and automatically surfaces critical alert dialog entries the moment a user authenticates.</a:t>
            </a:r>
            <a:endParaRPr lang="en-ZA"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 It allows students to gauge their workload instantly, encouraging better time management and reducing stress.</a:t>
            </a:r>
            <a:endParaRPr lang="en-ZA"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
          <p:cNvSpPr>
            <a:spLocks noGrp="1"/>
          </p:cNvSpPr>
          <p:nvPr>
            <p:ph type="ctrTitle"/>
          </p:nvPr>
        </p:nvSpPr>
        <p:spPr>
          <a:xfrm>
            <a:off x="390617" y="619761"/>
            <a:ext cx="10277383" cy="711200"/>
          </a:xfrm>
        </p:spPr>
        <p:txBody>
          <a:bodyPr>
            <a:normAutofit/>
          </a:bodyPr>
          <a:lstStyle/>
          <a:p>
            <a:pPr algn="l"/>
            <a:r>
              <a:rPr lang="en-GB" u="sng" dirty="0"/>
              <a:t>Key Features</a:t>
            </a:r>
            <a:endParaRPr lang="en-ZA" u="sng" dirty="0"/>
          </a:p>
        </p:txBody>
      </p:sp>
      <p:sp>
        <p:nvSpPr>
          <p:cNvPr id="1048626" name="Subtitle 2"/>
          <p:cNvSpPr>
            <a:spLocks noGrp="1"/>
          </p:cNvSpPr>
          <p:nvPr>
            <p:ph type="subTitle" idx="1"/>
          </p:nvPr>
        </p:nvSpPr>
        <p:spPr>
          <a:xfrm>
            <a:off x="922713" y="1263535"/>
            <a:ext cx="9318567" cy="5370021"/>
          </a:xfrm>
        </p:spPr>
        <p:txBody>
          <a:bodyPr>
            <a:normAutofit/>
          </a:bodyPr>
          <a:lstStyle/>
          <a:p>
            <a:endParaRPr lang="en-ZA"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Secure User Authentication:</a:t>
            </a:r>
          </a:p>
          <a:p>
            <a:pPr algn="l"/>
            <a:r>
              <a:rPr lang="en-GB" dirty="0">
                <a:latin typeface="Times New Roman" panose="02020603050405020304" pitchFamily="18" charset="0"/>
                <a:cs typeface="Times New Roman" panose="02020603050405020304" pitchFamily="18" charset="0"/>
              </a:rPr>
              <a:t> Handles robust user account registration, validation, and session state preservation.</a:t>
            </a:r>
            <a:endParaRPr lang="en-ZA"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Comprehensive Task Management (CRUD Workspace)</a:t>
            </a:r>
          </a:p>
          <a:p>
            <a:pPr algn="l"/>
            <a:r>
              <a:rPr lang="en-GB" dirty="0">
                <a:latin typeface="Times New Roman" panose="02020603050405020304" pitchFamily="18" charset="0"/>
                <a:cs typeface="Times New Roman" panose="02020603050405020304" pitchFamily="18" charset="0"/>
              </a:rPr>
              <a:t> Allow students to add, view, edit, delete task with course code, description and deadlines priority</a:t>
            </a:r>
            <a:endParaRPr lang="en-ZA"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 Dashboard Analytics</a:t>
            </a:r>
          </a:p>
          <a:p>
            <a:pPr algn="l"/>
            <a:r>
              <a:rPr lang="en-GB" dirty="0">
                <a:latin typeface="Times New Roman" panose="02020603050405020304" pitchFamily="18" charset="0"/>
                <a:cs typeface="Times New Roman" panose="02020603050405020304" pitchFamily="18" charset="0"/>
              </a:rPr>
              <a:t> Real –Time counters: Total, pending , completed and up coming tasks.</a:t>
            </a:r>
            <a:endParaRPr lang="en-ZA"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 Automated Deadline Alert :</a:t>
            </a:r>
          </a:p>
          <a:p>
            <a:pPr algn="l"/>
            <a:r>
              <a:rPr lang="en-GB" dirty="0">
                <a:latin typeface="Times New Roman" panose="02020603050405020304" pitchFamily="18" charset="0"/>
                <a:cs typeface="Times New Roman" panose="02020603050405020304" pitchFamily="18" charset="0"/>
              </a:rPr>
              <a:t> A modal interception window that automatically alerts users to    near-term academic threats.</a:t>
            </a:r>
            <a:endParaRPr lang="en-ZA"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ctrTitle"/>
          </p:nvPr>
        </p:nvSpPr>
        <p:spPr>
          <a:xfrm>
            <a:off x="1046480" y="0"/>
            <a:ext cx="9144000" cy="1178560"/>
          </a:xfrm>
        </p:spPr>
        <p:txBody>
          <a:bodyPr>
            <a:normAutofit/>
          </a:bodyPr>
          <a:lstStyle/>
          <a:p>
            <a:pPr algn="l"/>
            <a:r>
              <a:rPr lang="en-GB" u="sng" dirty="0"/>
              <a:t>Benefits</a:t>
            </a:r>
            <a:endParaRPr lang="en-ZA" u="sng" dirty="0"/>
          </a:p>
        </p:txBody>
      </p:sp>
      <p:sp>
        <p:nvSpPr>
          <p:cNvPr id="1048628" name="Subtitle 2"/>
          <p:cNvSpPr>
            <a:spLocks noGrp="1"/>
          </p:cNvSpPr>
          <p:nvPr>
            <p:ph type="subTitle" idx="1"/>
          </p:nvPr>
        </p:nvSpPr>
        <p:spPr>
          <a:xfrm>
            <a:off x="1046480" y="1259840"/>
            <a:ext cx="9144000" cy="3459480"/>
          </a:xfrm>
        </p:spPr>
        <p:txBody>
          <a:bodyPr/>
          <a:lstStyle/>
          <a:p>
            <a:pPr algn="l"/>
            <a:endParaRPr lang="en-GB"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Optimized Organisation- no more sticky notes or scattered reminders</a:t>
            </a:r>
            <a:endParaRPr lang="en-ZA" dirty="0">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Clear Priority Visibility- High/Medium/Low budgets show what needs attention first.</a:t>
            </a:r>
          </a:p>
          <a:p>
            <a:pPr marL="342900" indent="-342900" algn="l">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Reduce Late Submission – Multi-tier alerts catch deadlines before it pass</a:t>
            </a:r>
          </a:p>
          <a:p>
            <a:pPr marL="342900" indent="-342900" algn="l">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Low Academic Stress- predictable view reduces exam panic.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p:txBody>
          <a:bodyPr/>
          <a:lstStyle/>
          <a:p>
            <a:r>
              <a:rPr lang="en-GB" u="sng" dirty="0"/>
              <a:t>Database Design</a:t>
            </a:r>
            <a:endParaRPr lang="en-ZA" u="sng" dirty="0"/>
          </a:p>
        </p:txBody>
      </p:sp>
      <p:sp>
        <p:nvSpPr>
          <p:cNvPr id="1048630" name="Content Placeholder 2"/>
          <p:cNvSpPr>
            <a:spLocks noGrp="1"/>
          </p:cNvSpPr>
          <p:nvPr>
            <p:ph idx="1"/>
          </p:nvPr>
        </p:nvSpPr>
        <p:spPr/>
        <p:txBody>
          <a:bodyPr/>
          <a:lstStyle/>
          <a:p>
            <a:pPr marL="0" indent="0">
              <a:buNone/>
            </a:pPr>
            <a:r>
              <a:rPr lang="en-GB" dirty="0"/>
              <a:t>Main Entities:</a:t>
            </a:r>
          </a:p>
          <a:p>
            <a:pPr>
              <a:buFont typeface="Wingdings" panose="05000000000000000000" pitchFamily="2" charset="2"/>
              <a:buChar char="ü"/>
            </a:pPr>
            <a:r>
              <a:rPr lang="en-GB" dirty="0"/>
              <a:t>Student</a:t>
            </a:r>
          </a:p>
          <a:p>
            <a:pPr>
              <a:buFont typeface="Wingdings" panose="05000000000000000000" pitchFamily="2" charset="2"/>
              <a:buChar char="ü"/>
            </a:pPr>
            <a:r>
              <a:rPr lang="en-GB" dirty="0"/>
              <a:t>Task</a:t>
            </a:r>
          </a:p>
          <a:p>
            <a:pPr>
              <a:buFont typeface="Wingdings" panose="05000000000000000000" pitchFamily="2" charset="2"/>
              <a:buChar char="ü"/>
            </a:pPr>
            <a:r>
              <a:rPr lang="en-GB" dirty="0"/>
              <a:t>Notification</a:t>
            </a:r>
          </a:p>
          <a:p>
            <a:pPr>
              <a:buFont typeface="Wingdings" panose="05000000000000000000" pitchFamily="2" charset="2"/>
              <a:buChar char="ü"/>
            </a:pPr>
            <a:r>
              <a:rPr lang="en-GB" dirty="0"/>
              <a:t>Relational database structure supports data</a:t>
            </a:r>
          </a:p>
          <a:p>
            <a:pPr>
              <a:buFont typeface="Wingdings" panose="05000000000000000000" pitchFamily="2" charset="2"/>
              <a:buChar char="ü"/>
            </a:pPr>
            <a:r>
              <a:rPr lang="en-GB" dirty="0"/>
              <a:t>Integrity and future scalability.</a:t>
            </a:r>
            <a:endParaRPr lang="en-ZA"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
          <p:cNvSpPr>
            <a:spLocks noGrp="1"/>
          </p:cNvSpPr>
          <p:nvPr>
            <p:ph type="title"/>
          </p:nvPr>
        </p:nvSpPr>
        <p:spPr>
          <a:xfrm>
            <a:off x="838200" y="329615"/>
            <a:ext cx="10515600" cy="1325563"/>
          </a:xfrm>
        </p:spPr>
        <p:txBody>
          <a:bodyPr/>
          <a:lstStyle/>
          <a:p>
            <a:r>
              <a:rPr lang="en-GB" u="sng" dirty="0"/>
              <a:t>Development Methodology</a:t>
            </a:r>
            <a:endParaRPr lang="en-ZA" u="sng" dirty="0"/>
          </a:p>
        </p:txBody>
      </p:sp>
      <p:sp>
        <p:nvSpPr>
          <p:cNvPr id="1048632" name="Content Placeholder 2"/>
          <p:cNvSpPr>
            <a:spLocks noGrp="1"/>
          </p:cNvSpPr>
          <p:nvPr>
            <p:ph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Waterfall model </a:t>
            </a:r>
            <a:endParaRPr lang="en-GB"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Requirements analysis</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System design</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Database design</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Development</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Testing</a:t>
            </a:r>
          </a:p>
          <a:p>
            <a:pPr marL="514350" indent="-514350">
              <a:buFont typeface="+mj-lt"/>
              <a:buAutoNum type="arabicPeriod"/>
            </a:pPr>
            <a:r>
              <a:rPr lang="en-GB" dirty="0">
                <a:latin typeface="Times New Roman" panose="02020603050405020304" pitchFamily="18" charset="0"/>
                <a:cs typeface="Times New Roman" panose="02020603050405020304" pitchFamily="18" charset="0"/>
              </a:rPr>
              <a:t>Deployment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ctrTitle"/>
          </p:nvPr>
        </p:nvSpPr>
        <p:spPr>
          <a:xfrm>
            <a:off x="624378" y="111760"/>
            <a:ext cx="9144000" cy="2082800"/>
          </a:xfrm>
        </p:spPr>
        <p:txBody>
          <a:bodyPr/>
          <a:lstStyle/>
          <a:p>
            <a:pPr algn="l"/>
            <a:r>
              <a:rPr lang="en-GB" u="sng" dirty="0"/>
              <a:t>System Architecture</a:t>
            </a:r>
            <a:r>
              <a:rPr lang="en-GB" dirty="0"/>
              <a:t/>
            </a:r>
            <a:br>
              <a:rPr lang="en-GB" dirty="0"/>
            </a:br>
            <a:endParaRPr lang="en-ZA" dirty="0"/>
          </a:p>
        </p:txBody>
      </p:sp>
      <p:sp>
        <p:nvSpPr>
          <p:cNvPr id="1048634" name="Subtitle 2"/>
          <p:cNvSpPr>
            <a:spLocks noGrp="1"/>
          </p:cNvSpPr>
          <p:nvPr>
            <p:ph type="subTitle" idx="1"/>
          </p:nvPr>
        </p:nvSpPr>
        <p:spPr>
          <a:xfrm>
            <a:off x="0" y="2701637"/>
            <a:ext cx="12039600" cy="4056611"/>
          </a:xfrm>
        </p:spPr>
        <p:txBody>
          <a:bodyPr>
            <a:normAutofit/>
          </a:bodyPr>
          <a:lstStyle/>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Frontend:HTML5,CSS3</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Client Logic: JavaScript ES6+</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Backend: PHP</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Database: MySQL</a:t>
            </a:r>
          </a:p>
          <a:p>
            <a:pPr marL="342900" indent="-342900" algn="l">
              <a:buFont typeface="Wingdings" panose="05000000000000000000" pitchFamily="2" charset="2"/>
              <a:buChar char="§"/>
            </a:pPr>
            <a:r>
              <a:rPr lang="en-GB" dirty="0">
                <a:latin typeface="Times New Roman" panose="02020603050405020304" pitchFamily="18" charset="0"/>
                <a:cs typeface="Times New Roman" panose="02020603050405020304" pitchFamily="18" charset="0"/>
              </a:rPr>
              <a:t>Architecture follows a layered web application design.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p:txBody>
          <a:bodyPr/>
          <a:lstStyle/>
          <a:p>
            <a:r>
              <a:rPr lang="en-GB" u="sng" dirty="0"/>
              <a:t>Log &amp; Registration</a:t>
            </a:r>
            <a:endParaRPr lang="en-ZA" u="sng" dirty="0"/>
          </a:p>
        </p:txBody>
      </p:sp>
      <p:sp>
        <p:nvSpPr>
          <p:cNvPr id="1048636" name="Content Placeholder 2"/>
          <p:cNvSpPr>
            <a:spLocks noGrp="1"/>
          </p:cNvSpPr>
          <p:nvPr>
            <p:ph sz="half" idx="1"/>
          </p:nvPr>
        </p:nvSpPr>
        <p:spPr>
          <a:xfrm>
            <a:off x="838200" y="1825625"/>
            <a:ext cx="5181600" cy="3998126"/>
          </a:xfrm>
        </p:spPr>
        <p:txBody>
          <a:bodyPr/>
          <a:lstStyle/>
          <a:p>
            <a:r>
              <a:rPr lang="en-GB" sz="2400" dirty="0">
                <a:latin typeface="Times New Roman" panose="02020603050405020304" pitchFamily="18" charset="0"/>
                <a:cs typeface="Times New Roman" panose="02020603050405020304" pitchFamily="18" charset="0"/>
              </a:rPr>
              <a:t>Student ID</a:t>
            </a:r>
          </a:p>
          <a:p>
            <a:r>
              <a:rPr lang="en-GB" sz="2400" dirty="0">
                <a:latin typeface="Times New Roman" panose="02020603050405020304" pitchFamily="18" charset="0"/>
                <a:cs typeface="Times New Roman" panose="02020603050405020304" pitchFamily="18" charset="0"/>
              </a:rPr>
              <a:t>Password field</a:t>
            </a:r>
          </a:p>
          <a:p>
            <a:r>
              <a:rPr lang="en-GB" sz="2400" dirty="0">
                <a:latin typeface="Times New Roman" panose="02020603050405020304" pitchFamily="18" charset="0"/>
                <a:cs typeface="Times New Roman" panose="02020603050405020304" pitchFamily="18" charset="0"/>
              </a:rPr>
              <a:t>Remember me option</a:t>
            </a:r>
          </a:p>
          <a:p>
            <a:r>
              <a:rPr lang="en-GB" sz="2400" dirty="0">
                <a:latin typeface="Times New Roman" panose="02020603050405020304" pitchFamily="18" charset="0"/>
                <a:cs typeface="Times New Roman" panose="02020603050405020304" pitchFamily="18" charset="0"/>
              </a:rPr>
              <a:t>Login/Register controls</a:t>
            </a:r>
          </a:p>
          <a:p>
            <a:endParaRPr lang="en-GB" dirty="0"/>
          </a:p>
        </p:txBody>
      </p:sp>
      <p:pic>
        <p:nvPicPr>
          <p:cNvPr id="2097155" name="Content Placeholder 4"/>
          <p:cNvPicPr>
            <a:picLocks noGrp="1"/>
          </p:cNvPicPr>
          <p:nvPr>
            <p:ph sz="half" idx="2"/>
          </p:nvPr>
        </p:nvPicPr>
        <p:blipFill>
          <a:blip r:embed="rId2"/>
          <a:stretch>
            <a:fillRect/>
          </a:stretch>
        </p:blipFill>
        <p:spPr>
          <a:xfrm>
            <a:off x="5792717" y="1690688"/>
            <a:ext cx="3756660" cy="37566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r>
              <a:rPr lang="en-GB" u="sng" dirty="0"/>
              <a:t>Dashboard</a:t>
            </a:r>
            <a:endParaRPr lang="en-ZA" u="sng" dirty="0"/>
          </a:p>
        </p:txBody>
      </p:sp>
      <p:sp>
        <p:nvSpPr>
          <p:cNvPr id="1048638" name="Content Placeholder 2"/>
          <p:cNvSpPr>
            <a:spLocks noGrp="1"/>
          </p:cNvSpPr>
          <p:nvPr>
            <p:ph sz="half" idx="1"/>
          </p:nvPr>
        </p:nvSpPr>
        <p:spPr/>
        <p:txBody>
          <a:bodyPr>
            <a:normAutofit/>
          </a:bodyPr>
          <a:lstStyle/>
          <a:p>
            <a:pPr marL="0" indent="0">
              <a:buNone/>
            </a:pPr>
            <a:r>
              <a:rPr lang="en-GB" sz="2400" b="1" dirty="0">
                <a:latin typeface="Times New Roman" panose="02020603050405020304" pitchFamily="18" charset="0"/>
                <a:cs typeface="Times New Roman" panose="02020603050405020304" pitchFamily="18" charset="0"/>
              </a:rPr>
              <a:t>Components:</a:t>
            </a:r>
          </a:p>
          <a:p>
            <a:r>
              <a:rPr lang="en-GB" sz="2400" dirty="0">
                <a:latin typeface="Times New Roman" panose="02020603050405020304" pitchFamily="18" charset="0"/>
                <a:cs typeface="Times New Roman" panose="02020603050405020304" pitchFamily="18" charset="0"/>
              </a:rPr>
              <a:t>Navigation sidebar</a:t>
            </a:r>
          </a:p>
          <a:p>
            <a:r>
              <a:rPr lang="en-GB" sz="2400" dirty="0">
                <a:latin typeface="Times New Roman" panose="02020603050405020304" pitchFamily="18" charset="0"/>
                <a:cs typeface="Times New Roman" panose="02020603050405020304" pitchFamily="18" charset="0"/>
              </a:rPr>
              <a:t>Upcoming deadlines panel</a:t>
            </a:r>
          </a:p>
          <a:p>
            <a:r>
              <a:rPr lang="en-GB" sz="2400" dirty="0">
                <a:latin typeface="Times New Roman" panose="02020603050405020304" pitchFamily="18" charset="0"/>
                <a:cs typeface="Times New Roman" panose="02020603050405020304" pitchFamily="18" charset="0"/>
              </a:rPr>
              <a:t>Add task button</a:t>
            </a:r>
          </a:p>
          <a:p>
            <a:r>
              <a:rPr lang="en-GB" sz="2400" dirty="0">
                <a:latin typeface="Times New Roman" panose="02020603050405020304" pitchFamily="18" charset="0"/>
                <a:cs typeface="Times New Roman" panose="02020603050405020304" pitchFamily="18" charset="0"/>
              </a:rPr>
              <a:t>Statistic cards</a:t>
            </a:r>
          </a:p>
        </p:txBody>
      </p:sp>
      <p:pic>
        <p:nvPicPr>
          <p:cNvPr id="2097156" name="Content Placeholder 8"/>
          <p:cNvPicPr>
            <a:picLocks noGrp="1"/>
          </p:cNvPicPr>
          <p:nvPr>
            <p:ph sz="half" idx="2"/>
          </p:nvPr>
        </p:nvPicPr>
        <p:blipFill>
          <a:blip r:embed="rId2"/>
          <a:stretch>
            <a:fillRect/>
          </a:stretch>
        </p:blipFill>
        <p:spPr>
          <a:xfrm>
            <a:off x="5592932" y="1547336"/>
            <a:ext cx="5292238" cy="43513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p:txBody>
          <a:bodyPr/>
          <a:lstStyle/>
          <a:p>
            <a:r>
              <a:rPr lang="en-GB" u="sng" dirty="0"/>
              <a:t>Add Task Interface</a:t>
            </a:r>
            <a:endParaRPr lang="en-ZA" u="sng" dirty="0"/>
          </a:p>
        </p:txBody>
      </p:sp>
      <p:sp>
        <p:nvSpPr>
          <p:cNvPr id="1048640" name="Content Placeholder 2"/>
          <p:cNvSpPr>
            <a:spLocks noGrp="1"/>
          </p:cNvSpPr>
          <p:nvPr>
            <p:ph sz="half" idx="1"/>
          </p:nvPr>
        </p:nvSpPr>
        <p:spPr/>
        <p:txBody>
          <a:bodyPr/>
          <a:lstStyle/>
          <a:p>
            <a:pPr marL="0" indent="0">
              <a:buNone/>
            </a:pPr>
            <a:r>
              <a:rPr lang="en-GB" sz="2400" dirty="0">
                <a:latin typeface="Times New Roman" panose="02020603050405020304" pitchFamily="18" charset="0"/>
                <a:cs typeface="Times New Roman" panose="02020603050405020304" pitchFamily="18" charset="0"/>
              </a:rPr>
              <a:t>Form field:</a:t>
            </a:r>
            <a:endParaRPr lang="en-ZA"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Task title</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Subject</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Description</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Deadline date</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Priority selector</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Save/cancel button</a:t>
            </a:r>
          </a:p>
          <a:p>
            <a:pPr marL="0" indent="0">
              <a:buNone/>
            </a:pPr>
            <a:endParaRPr lang="en-GB" dirty="0"/>
          </a:p>
          <a:p>
            <a:pPr marL="0" indent="0">
              <a:buNone/>
            </a:pPr>
            <a:endParaRPr lang="en-ZA" dirty="0"/>
          </a:p>
        </p:txBody>
      </p:sp>
      <p:pic>
        <p:nvPicPr>
          <p:cNvPr id="2097157" name="Content Placeholder 4"/>
          <p:cNvPicPr>
            <a:picLocks noGrp="1"/>
          </p:cNvPicPr>
          <p:nvPr>
            <p:ph sz="half" idx="2"/>
          </p:nvPr>
        </p:nvPicPr>
        <p:blipFill>
          <a:blip r:embed="rId2"/>
          <a:stretch>
            <a:fillRect/>
          </a:stretch>
        </p:blipFill>
        <p:spPr>
          <a:xfrm>
            <a:off x="4705165" y="1690689"/>
            <a:ext cx="5718995" cy="41622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lstStyle/>
          <a:p>
            <a:r>
              <a:rPr lang="en-GB" u="sng" dirty="0"/>
              <a:t>Task List Workspace</a:t>
            </a:r>
            <a:endParaRPr lang="en-ZA" u="sng" dirty="0"/>
          </a:p>
        </p:txBody>
      </p:sp>
      <p:sp>
        <p:nvSpPr>
          <p:cNvPr id="1048604" name="Content Placeholder 2"/>
          <p:cNvSpPr>
            <a:spLocks noGrp="1"/>
          </p:cNvSpPr>
          <p:nvPr>
            <p:ph sz="half" idx="1"/>
          </p:nvPr>
        </p:nvSpPr>
        <p:spPr/>
        <p:txBody>
          <a:bodyPr>
            <a:normAutofit/>
          </a:bodyPr>
          <a:lstStyle/>
          <a:p>
            <a:pPr marL="0" indent="0">
              <a:buNone/>
            </a:pPr>
            <a:r>
              <a:rPr lang="en-GB" sz="2400" b="1" dirty="0">
                <a:latin typeface="Times New Roman" panose="02020603050405020304" pitchFamily="18" charset="0"/>
                <a:cs typeface="Times New Roman" panose="02020603050405020304" pitchFamily="18" charset="0"/>
              </a:rPr>
              <a:t>Data-Grid display:</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Title</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Subject</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Deadline</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Priority</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Status</a:t>
            </a:r>
          </a:p>
          <a:p>
            <a:pPr>
              <a:buFont typeface="Wingdings" panose="05000000000000000000" pitchFamily="2" charset="2"/>
              <a:buChar char="§"/>
            </a:pPr>
            <a:r>
              <a:rPr lang="en-GB" sz="2400" dirty="0">
                <a:latin typeface="Times New Roman" panose="02020603050405020304" pitchFamily="18" charset="0"/>
                <a:cs typeface="Times New Roman" panose="02020603050405020304" pitchFamily="18" charset="0"/>
              </a:rPr>
              <a:t>Edit/Delete actions</a:t>
            </a:r>
          </a:p>
        </p:txBody>
      </p:sp>
      <p:pic>
        <p:nvPicPr>
          <p:cNvPr id="2097153" name="Content Placeholder 7"/>
          <p:cNvPicPr>
            <a:picLocks noGrp="1"/>
          </p:cNvPicPr>
          <p:nvPr>
            <p:ph sz="half" idx="2"/>
          </p:nvPr>
        </p:nvPicPr>
        <p:blipFill>
          <a:blip r:embed="rId2"/>
          <a:stretch>
            <a:fillRect/>
          </a:stretch>
        </p:blipFill>
        <p:spPr>
          <a:xfrm>
            <a:off x="5459767" y="1825625"/>
            <a:ext cx="5894033" cy="364991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r>
              <a:rPr lang="en-GB" u="sng" dirty="0"/>
              <a:t>Reminder Notification</a:t>
            </a:r>
            <a:endParaRPr lang="en-ZA" u="sng" dirty="0"/>
          </a:p>
        </p:txBody>
      </p:sp>
      <p:sp>
        <p:nvSpPr>
          <p:cNvPr id="1048602" name="Content Placeholder 2"/>
          <p:cNvSpPr>
            <a:spLocks noGrp="1"/>
          </p:cNvSpPr>
          <p:nvPr>
            <p:ph sz="half" idx="1"/>
          </p:nvPr>
        </p:nvSpPr>
        <p:spPr/>
        <p:txBody>
          <a:bodyPr>
            <a:normAutofit/>
          </a:bodyPr>
          <a:lstStyle/>
          <a:p>
            <a:pPr marL="0" indent="0">
              <a:buNone/>
            </a:pPr>
            <a:r>
              <a:rPr lang="en-GB" sz="2400" b="1" dirty="0">
                <a:latin typeface="Times New Roman" panose="02020603050405020304" pitchFamily="18" charset="0"/>
                <a:cs typeface="Times New Roman" panose="02020603050405020304" pitchFamily="18" charset="0"/>
              </a:rPr>
              <a:t>Model notification window showing</a:t>
            </a:r>
            <a:r>
              <a:rPr lang="en-GB"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Warning icon</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Deadline message</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Close button </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Confirmation button</a:t>
            </a:r>
            <a:endParaRPr lang="en-ZA" sz="2400" dirty="0">
              <a:latin typeface="Times New Roman" panose="02020603050405020304" pitchFamily="18" charset="0"/>
              <a:cs typeface="Times New Roman" panose="02020603050405020304" pitchFamily="18" charset="0"/>
            </a:endParaRPr>
          </a:p>
        </p:txBody>
      </p:sp>
      <p:pic>
        <p:nvPicPr>
          <p:cNvPr id="2097152" name="Content Placeholder 4"/>
          <p:cNvPicPr>
            <a:picLocks noGrp="1"/>
          </p:cNvPicPr>
          <p:nvPr>
            <p:ph sz="half" idx="2"/>
          </p:nvPr>
        </p:nvPicPr>
        <p:blipFill>
          <a:blip r:embed="rId2"/>
          <a:stretch>
            <a:fillRect/>
          </a:stretch>
        </p:blipFill>
        <p:spPr>
          <a:xfrm>
            <a:off x="6096000" y="1825625"/>
            <a:ext cx="4834890" cy="38596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ctrTitle"/>
          </p:nvPr>
        </p:nvSpPr>
        <p:spPr>
          <a:xfrm>
            <a:off x="363985" y="1"/>
            <a:ext cx="9206736" cy="1411549"/>
          </a:xfrm>
        </p:spPr>
        <p:txBody>
          <a:bodyPr/>
          <a:lstStyle/>
          <a:p>
            <a:pPr algn="l"/>
            <a:r>
              <a:rPr lang="en-GB" u="sng" dirty="0"/>
              <a:t>Expected outcomes</a:t>
            </a:r>
            <a:endParaRPr lang="en-ZA" u="sng" dirty="0"/>
          </a:p>
        </p:txBody>
      </p:sp>
      <p:sp>
        <p:nvSpPr>
          <p:cNvPr id="1048594" name="Subtitle 2"/>
          <p:cNvSpPr>
            <a:spLocks noGrp="1"/>
          </p:cNvSpPr>
          <p:nvPr>
            <p:ph type="subTitle" idx="1"/>
          </p:nvPr>
        </p:nvSpPr>
        <p:spPr>
          <a:xfrm>
            <a:off x="0" y="2138387"/>
            <a:ext cx="10668000" cy="4778895"/>
          </a:xfrm>
        </p:spPr>
        <p:txBody>
          <a:bodyPr>
            <a:normAutofit/>
          </a:bodyPr>
          <a:lstStyle/>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Improved academic performance</a:t>
            </a: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Better task organization</a:t>
            </a: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Reduced academic stress</a:t>
            </a:r>
          </a:p>
          <a:p>
            <a:pPr marL="342900" indent="-34290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Enhanced productivity</a:t>
            </a:r>
          </a:p>
          <a:p>
            <a:endParaRPr lang="en-GB" dirty="0"/>
          </a:p>
          <a:p>
            <a:endParaRPr lang="en-ZA"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title"/>
          </p:nvPr>
        </p:nvSpPr>
        <p:spPr/>
        <p:txBody>
          <a:bodyPr/>
          <a:lstStyle/>
          <a:p>
            <a:r>
              <a:rPr lang="en-GB" u="sng" dirty="0"/>
              <a:t>Conclusion</a:t>
            </a:r>
            <a:endParaRPr lang="en-ZA" u="sng" dirty="0"/>
          </a:p>
        </p:txBody>
      </p:sp>
      <p:sp>
        <p:nvSpPr>
          <p:cNvPr id="1048587" name="Content Placeholder 2"/>
          <p:cNvSpPr>
            <a:spLocks noGrp="1"/>
          </p:cNvSpPr>
          <p:nvPr>
            <p:ph idx="1"/>
          </p:nvPr>
        </p:nvSpPr>
        <p:spPr>
          <a:xfrm>
            <a:off x="595743" y="1690687"/>
            <a:ext cx="10515600" cy="4351338"/>
          </a:xfrm>
        </p:spPr>
        <p:txBody>
          <a:bodyPr/>
          <a:lstStyle/>
          <a:p>
            <a:r>
              <a:rPr lang="en-GB" sz="2400" dirty="0">
                <a:latin typeface="Times New Roman" panose="02020603050405020304" pitchFamily="18" charset="0"/>
                <a:cs typeface="Times New Roman" panose="02020603050405020304" pitchFamily="18" charset="0"/>
              </a:rPr>
              <a:t>Smart Student Hub successfully addresses academic task management challenges by providing centralized task tracking, reminders, and productivity tools for UNESWA students. Link to </a:t>
            </a:r>
            <a:r>
              <a:rPr lang="en-US" altLang="en-GB" sz="2400" dirty="0">
                <a:latin typeface="Times New Roman" panose="02020603050405020304" pitchFamily="18" charset="0"/>
                <a:cs typeface="Times New Roman" panose="02020603050405020304" pitchFamily="18" charset="0"/>
              </a:rPr>
              <a:t>DEMO.   </a:t>
            </a:r>
            <a:endParaRPr lang="en-GB" sz="2400" dirty="0">
              <a:latin typeface="Times New Roman" panose="02020603050405020304" pitchFamily="18" charset="0"/>
              <a:cs typeface="Times New Roman" panose="02020603050405020304" pitchFamily="18" charset="0"/>
            </a:endParaRPr>
          </a:p>
          <a:p>
            <a:pPr marL="0" indent="0">
              <a:buNone/>
            </a:pPr>
            <a:r>
              <a:rPr lang="en-US" altLang="en-GB" sz="2400" dirty="0">
                <a:latin typeface="Times New Roman" panose="02020603050405020304" pitchFamily="18" charset="0"/>
                <a:cs typeface="Times New Roman" panose="02020603050405020304" pitchFamily="18" charset="0"/>
              </a:rPr>
              <a:t>            https://student-hub.tiiny.site/</a:t>
            </a:r>
            <a:endParaRPr lang="en-GB"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548</Words>
  <Application>Microsoft Office PowerPoint</Application>
  <PresentationFormat>Widescreen</PresentationFormat>
  <Paragraphs>104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Times New Roman</vt:lpstr>
      <vt:lpstr>Wingdings</vt:lpstr>
      <vt:lpstr>Office Theme</vt:lpstr>
      <vt:lpstr>SMART STUDENT HUB</vt:lpstr>
      <vt:lpstr>Problem statement</vt:lpstr>
      <vt:lpstr>Objectives</vt:lpstr>
      <vt:lpstr>Proposed solution</vt:lpstr>
      <vt:lpstr>How it solved the problem</vt:lpstr>
      <vt:lpstr>Key Features</vt:lpstr>
      <vt:lpstr>Benefits</vt:lpstr>
      <vt:lpstr>Database Design</vt:lpstr>
      <vt:lpstr>Development Methodology</vt:lpstr>
      <vt:lpstr>System Architecture </vt:lpstr>
      <vt:lpstr>Log &amp; Registration</vt:lpstr>
      <vt:lpstr>Dashboard</vt:lpstr>
      <vt:lpstr>Add Task Interface</vt:lpstr>
      <vt:lpstr>Task List Workspace</vt:lpstr>
      <vt:lpstr>Reminder Notification</vt:lpstr>
      <vt:lpstr>Expected outcomes</vt:lpstr>
      <vt:lpstr>Conclusion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STUDENT HUB</dc:title>
  <dc:creator>Tamile</dc:creator>
  <cp:lastModifiedBy>Tamile</cp:lastModifiedBy>
  <cp:revision>1</cp:revision>
  <dcterms:created xsi:type="dcterms:W3CDTF">2026-06-03T11:26:37Z</dcterms:created>
  <dcterms:modified xsi:type="dcterms:W3CDTF">2026-06-05T22:34:02Z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02898d92d0754695a405dd3fcc53da63</vt:lpwstr>
  </property>
</Properties>
</file>